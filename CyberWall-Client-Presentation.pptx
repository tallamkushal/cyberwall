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502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🛡</a:t>
            </a:r>
            <a:endParaRPr lang="en-US" sz="6800" dirty="0"/>
          </a:p>
        </p:txBody>
      </p:sp>
      <p:sp>
        <p:nvSpPr>
          <p:cNvPr id="25" name="Text 23"/>
          <p:cNvSpPr/>
          <p:nvPr/>
        </p:nvSpPr>
        <p:spPr>
          <a:xfrm>
            <a:off x="457200" y="18288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6000" dirty="0"/>
          </a:p>
        </p:txBody>
      </p:sp>
      <p:sp>
        <p:nvSpPr>
          <p:cNvPr id="26" name="Shape 24"/>
          <p:cNvSpPr/>
          <p:nvPr/>
        </p:nvSpPr>
        <p:spPr>
          <a:xfrm>
            <a:off x="3474720" y="2926080"/>
            <a:ext cx="5239512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Web Security — Fully Managed for Your Business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36118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protect your website from hackers, DDoS attacks, and bots.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technical knowledge needed. We handle everything.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74420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442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 WAF Protection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4388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4388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WhatsApp Alerts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34356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4356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Free SSL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64324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4324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Monthly Reports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94292" y="4434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4292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Faster Website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www.cyberwall.in  ·  Confidential Client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Your Website Really Safe?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39 seconds, a website is attacked somewhere in the world — most owners never even know.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cyberattacks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small businesses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₹14 Crore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cost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 breach in India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hacked SMBs shut down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6 months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8B9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5727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61120" y="22402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how many warnings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before an attack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happen to YOUR website right now: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950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Hacker steals your customer database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Attacks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9502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Bots place fake orders or scrape your prices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💥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Flood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7731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site goes down — customers can't reach you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438912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4944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47731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tries thousands of passwords on your admin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🕵️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Scraping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55961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Competitors steal your content, pricing, product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521208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49440" y="5303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 via Email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55961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domain spoofed to scam your own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CyberWall?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managed Web Application Firewall (WAF) service — we sit between the internet and your website, blocking threats before they reach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Hackers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Passes Through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5544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6276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Stays Safe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AA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AA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AA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172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 Protection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SQL injection, XSS, brute force, path traversal and 100+ attack types — automatically, 24/7.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3172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Alerts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5021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message on your phone the moment a threat is detected. No checking dashboards needed.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" y="4361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SSL / HTTPS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46908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website gets a free SSL certificate and all traffic is forced to HTTPS automatically.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2519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95160" y="4361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PDF Reports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46908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security report in your inbox every month. Perfect to show stakeholders.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440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43000" y="5550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Boost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58795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website loads faster for visitors with global CDN caching — no extra cost.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5440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95160" y="5550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58795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AI assistant answers your security questions in plain English, any time of day.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one place — real-time, live data about your website's security.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" y="621792"/>
            <a:ext cx="11914632" cy="6080760"/>
          </a:xfrm>
          <a:prstGeom prst="roundRect">
            <a:avLst>
              <a:gd name="adj" fmla="val 1805"/>
            </a:avLst>
          </a:prstGeom>
          <a:solidFill>
            <a:srgbClr val="0D1117"/>
          </a:solidFill>
          <a:ln w="190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0"/>
            <a:ext cx="0" cy="685800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6459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94360"/>
            <a:ext cx="1965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685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" y="93268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978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" y="1325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Threats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1335024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1344168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4592" y="16733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Reports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" y="19933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4592" y="2286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SSL Monitor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Alerts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2642616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2651760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4592" y="3017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4592" y="3246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Assistant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" y="36118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4592" y="38404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Billing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" y="41879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Settings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126480"/>
            <a:ext cx="19659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6236208"/>
            <a:ext cx="347472" cy="34747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6236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626364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Rahul Sharma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64465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566928"/>
            <a:ext cx="1022299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155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0" y="16459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65176"/>
            <a:ext cx="82296" cy="82296"/>
          </a:xfrm>
          <a:prstGeom prst="ellipse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8288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01200" y="15544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13313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0" y="173736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652760" y="155448"/>
            <a:ext cx="1325880" cy="246888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52760" y="173736"/>
            <a:ext cx="1325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Download Report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03120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40280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5353C"/>
          </a:solidFill>
          <a:ln w="12700">
            <a:solidFill>
              <a:srgbClr val="3535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40280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86200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12%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40280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1,247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240280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Blocked (30 days)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90288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0393C"/>
          </a:solidFill>
          <a:ln w="12700">
            <a:solidFill>
              <a:srgbClr val="3039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3368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0.2%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27448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99.97%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727448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This Month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077456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14616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0373F"/>
          </a:solidFill>
          <a:ln w="12700">
            <a:solidFill>
              <a:srgbClr val="3037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14616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860536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13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0536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214616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ms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214616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Response Time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564624" y="713232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01784" y="850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3393E"/>
          </a:solidFill>
          <a:ln w="12700">
            <a:solidFill>
              <a:srgbClr val="3339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01784" y="8686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347704" y="85039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347704" y="8595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A+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701784" y="1307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94/100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9701784" y="1673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Score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103120" y="1993392"/>
            <a:ext cx="5760720" cy="1993392"/>
          </a:xfrm>
          <a:prstGeom prst="roundRect">
            <a:avLst>
              <a:gd name="adj" fmla="val 458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40280" y="20848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Blocked — Last 7 Days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949440" y="20848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→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240280" y="3030973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312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240280" y="3232141"/>
            <a:ext cx="728907" cy="151139"/>
          </a:xfrm>
          <a:prstGeom prst="roundRect">
            <a:avLst>
              <a:gd name="adj" fmla="val 24200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40280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024051" y="2896789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589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024051" y="3097957"/>
            <a:ext cx="728907" cy="285323"/>
          </a:xfrm>
          <a:prstGeom prst="roundRect">
            <a:avLst>
              <a:gd name="adj" fmla="val 12819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24051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Tue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07823" y="2823157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741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807823" y="3024325"/>
            <a:ext cx="728907" cy="358955"/>
          </a:xfrm>
          <a:prstGeom prst="roundRect">
            <a:avLst>
              <a:gd name="adj" fmla="val 10190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07823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Wed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591594" y="2221992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91594" y="2423160"/>
            <a:ext cx="728907" cy="960120"/>
          </a:xfrm>
          <a:prstGeom prst="roundRect">
            <a:avLst>
              <a:gd name="adj" fmla="val 501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91594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375366" y="2637624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1.1K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375366" y="2838792"/>
            <a:ext cx="728907" cy="544488"/>
          </a:xfrm>
          <a:prstGeom prst="roundRect">
            <a:avLst>
              <a:gd name="adj" fmla="val 6718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75366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159137" y="2973811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430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59137" y="3174979"/>
            <a:ext cx="728907" cy="208301"/>
          </a:xfrm>
          <a:prstGeom prst="roundRect">
            <a:avLst>
              <a:gd name="adj" fmla="val 17559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59137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942909" y="3041630"/>
            <a:ext cx="72890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290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942909" y="3242798"/>
            <a:ext cx="728907" cy="140482"/>
          </a:xfrm>
          <a:prstGeom prst="roundRect">
            <a:avLst>
              <a:gd name="adj" fmla="val 26036"/>
            </a:avLst>
          </a:prstGeom>
          <a:solidFill>
            <a:srgbClr val="0F536C"/>
          </a:solidFill>
          <a:ln w="12700">
            <a:solidFill>
              <a:srgbClr val="0F536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42909" y="3429000"/>
            <a:ext cx="72890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240280" y="3730752"/>
            <a:ext cx="548640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0" y="3794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Peak: Thursday · 1,982 attacks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583680" y="3794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blocked ✓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973568" y="1993392"/>
            <a:ext cx="3931920" cy="1993392"/>
          </a:xfrm>
          <a:prstGeom prst="roundRect">
            <a:avLst>
              <a:gd name="adj" fmla="val 458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10728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Score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110728" y="2395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A+</a:t>
            </a:r>
            <a:endParaRPr lang="en-US" sz="4200" dirty="0"/>
          </a:p>
        </p:txBody>
      </p:sp>
      <p:sp>
        <p:nvSpPr>
          <p:cNvPr id="101" name="Text 99"/>
          <p:cNvSpPr/>
          <p:nvPr/>
        </p:nvSpPr>
        <p:spPr>
          <a:xfrm>
            <a:off x="8110728" y="30906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 Protection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110728" y="334670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56448" y="3401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 WAF Rules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0332720" y="3401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110728" y="366674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56448" y="3721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SSL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10332720" y="3721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8110728" y="398678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156448" y="4041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 SPF/DKIM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0332720" y="4041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110728" y="4306824"/>
            <a:ext cx="3566160" cy="0"/>
          </a:xfrm>
          <a:prstGeom prst="line">
            <a:avLst/>
          </a:prstGeom>
          <a:noFill/>
          <a:ln w="5080">
            <a:solidFill>
              <a:srgbClr val="21262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156448" y="43616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HTTPS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10332720" y="4361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103120" y="4059936"/>
            <a:ext cx="9802368" cy="2359152"/>
          </a:xfrm>
          <a:prstGeom prst="roundRect">
            <a:avLst>
              <a:gd name="adj" fmla="val 387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40280" y="41513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Threats Blocked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10881360" y="41513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→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103120" y="4443984"/>
            <a:ext cx="9802368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19456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Type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420624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Address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12648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749808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914400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1014984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11155680" y="4471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2103120" y="473659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194560" y="4800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4297680" y="48006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103.28.xx.xx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309360" y="4800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🇨🇳 China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777240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9509760" y="48006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 ago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0607040" y="48006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607040" y="48097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1247120" y="48006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247120" y="48097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2194560" y="5120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Attack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4297680" y="51206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185.220.xx.xx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6309360" y="5120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Russia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7772400" y="5120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9509760" y="51206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min ago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10607040" y="512064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607040" y="51297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1247120" y="512064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247120" y="51297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2103120" y="537667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194560" y="5440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Crawl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4297680" y="5440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45.33.xx.xx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6309360" y="5440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 USA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7772400" y="5440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9509760" y="54406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min ago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10607040" y="544068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607040" y="544982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11247120" y="544068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1247120" y="544982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2194560" y="5760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Attempt</a:t>
            </a:r>
            <a:endParaRPr lang="en-US" sz="950" dirty="0"/>
          </a:p>
        </p:txBody>
      </p:sp>
      <p:sp>
        <p:nvSpPr>
          <p:cNvPr id="155" name="Text 153"/>
          <p:cNvSpPr/>
          <p:nvPr/>
        </p:nvSpPr>
        <p:spPr>
          <a:xfrm>
            <a:off x="4297680" y="57607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198.54.xx.xx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6309360" y="5760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🇧🇷 Brazil</a:t>
            </a:r>
            <a:endParaRPr lang="en-US" sz="950" dirty="0"/>
          </a:p>
        </p:txBody>
      </p:sp>
      <p:sp>
        <p:nvSpPr>
          <p:cNvPr id="157" name="Text 155"/>
          <p:cNvSpPr/>
          <p:nvPr/>
        </p:nvSpPr>
        <p:spPr>
          <a:xfrm>
            <a:off x="7772400" y="5760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/checkout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9509760" y="5760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 ago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0607040" y="57607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607040" y="57698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11247120" y="57607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1247120" y="57698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2103120" y="601675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194560" y="6080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950" dirty="0"/>
          </a:p>
        </p:txBody>
      </p:sp>
      <p:sp>
        <p:nvSpPr>
          <p:cNvPr id="165" name="Text 163"/>
          <p:cNvSpPr/>
          <p:nvPr/>
        </p:nvSpPr>
        <p:spPr>
          <a:xfrm>
            <a:off x="4297680" y="60807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77.88.xx.xx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09360" y="6080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🇺🇦 Ukraine</a:t>
            </a:r>
            <a:endParaRPr lang="en-US" sz="950" dirty="0"/>
          </a:p>
        </p:txBody>
      </p:sp>
      <p:sp>
        <p:nvSpPr>
          <p:cNvPr id="167" name="Text 165"/>
          <p:cNvSpPr/>
          <p:nvPr/>
        </p:nvSpPr>
        <p:spPr>
          <a:xfrm>
            <a:off x="7772400" y="6080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900" dirty="0"/>
          </a:p>
        </p:txBody>
      </p:sp>
      <p:sp>
        <p:nvSpPr>
          <p:cNvPr id="168" name="Text 166"/>
          <p:cNvSpPr/>
          <p:nvPr/>
        </p:nvSpPr>
        <p:spPr>
          <a:xfrm>
            <a:off x="9509760" y="6080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hrs ago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10607040" y="60807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607040" y="60899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11247120" y="608076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1247120" y="60899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LOG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every attack — the type, where it came from, what it was targeting, and how we stopped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" y="621792"/>
            <a:ext cx="11914632" cy="6080760"/>
          </a:xfrm>
          <a:prstGeom prst="roundRect">
            <a:avLst>
              <a:gd name="adj" fmla="val 1805"/>
            </a:avLst>
          </a:prstGeom>
          <a:solidFill>
            <a:srgbClr val="0D1117"/>
          </a:solidFill>
          <a:ln w="190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21792"/>
            <a:ext cx="1965960" cy="6080760"/>
          </a:xfrm>
          <a:prstGeom prst="rect">
            <a:avLst/>
          </a:prstGeom>
          <a:solidFill>
            <a:srgbClr val="0A0E13"/>
          </a:solidFill>
          <a:ln w="12700">
            <a:solidFill>
              <a:srgbClr val="0A0E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621792"/>
            <a:ext cx="0" cy="608076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777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" y="13075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" y="1609344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6550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Threats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" y="20025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Reports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621792"/>
            <a:ext cx="10222992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188720"/>
            <a:ext cx="1022299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Log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78638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804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Protected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298448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14356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5353C"/>
          </a:solidFill>
          <a:ln w="12700">
            <a:solidFill>
              <a:srgbClr val="3535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14538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86200" y="143560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444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4028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240280" y="2258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Today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1298448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4356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0393C"/>
          </a:solidFill>
          <a:ln w="12700">
            <a:solidFill>
              <a:srgbClr val="3039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4538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23760" y="143560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1444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7784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77840" y="2258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This Month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78240" y="1298448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0" y="14356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53937"/>
          </a:solidFill>
          <a:ln w="12700">
            <a:solidFill>
              <a:srgbClr val="353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5400" y="14538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61320" y="143560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61320" y="1444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91540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15400" y="2258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 of Origin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03120" y="2651760"/>
            <a:ext cx="9875520" cy="388620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0280" y="2743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Threats Log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03120" y="3063240"/>
            <a:ext cx="9875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0624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264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14400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14984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55680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103120" y="3401568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34655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297680" y="34655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103.28.xx.xx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34655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🇨🇳 China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72400" y="34655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09760" y="34655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 ago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607040" y="346557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07040" y="347472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247120" y="346557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247120" y="347472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194560" y="3813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Attack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297680" y="38130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185.220.xx.xx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0" y="38130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🇷🇺 Russia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72400" y="38130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509760" y="38130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min ago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607040" y="381304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07040" y="38221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1247120" y="381304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0" y="38221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103120" y="4096512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94560" y="4160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Crawl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297680" y="4160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45.33.xx.xx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093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 USA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772400" y="41605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509760" y="41605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min ago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607040" y="41605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607040" y="41696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1247120" y="416052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247120" y="41696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194560" y="4507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Attempt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297680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198.54.xx.xx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309360" y="45079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🇧🇷 Brazil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772400" y="45079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/checkout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509760" y="45079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 ago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607040" y="450799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0" y="451713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1247120" y="450799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247120" y="451713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103120" y="4791456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4560" y="48554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Traversal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4297680" y="48554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92.118.xx.xx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09360" y="4855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🇩🇪 Germany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772400" y="48554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/../config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509760" y="48554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hrs ago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607040" y="485546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607040" y="486460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1247120" y="485546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247120" y="486460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2194560" y="52029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4297680" y="52029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77.88.xx.xx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309360" y="52029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🇺🇦 Ukraine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7772400" y="52029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9509760" y="52029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hrs ago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0607040" y="520293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5232A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607040" y="5212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1247120" y="520293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247120" y="5212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103120" y="5486400"/>
            <a:ext cx="96012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194560" y="55504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 Hit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4297680" y="5550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91.108.xx.xx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09360" y="55504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🇫🇷 France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7772400" y="55504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9509760" y="55504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Yesterday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0607040" y="5550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42C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607040" y="555955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1247120" y="5550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13342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247120" y="555955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&amp; SSL MONITOR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alerts delivered to your WhatsApp. SSL certificate monitored and auto-renewed.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5760720" cy="5989320"/>
          </a:xfrm>
          <a:prstGeom prst="roundRect">
            <a:avLst>
              <a:gd name="adj" fmla="val 1587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Alerts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261F26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Attack Detected &amp; Blocked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198 requests/sec from 45 IPs. Automatically mitigated by CyberWall.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2:34 PM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2524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 Login Attempt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failed login attempts from IP 77.88.xx.xx (Ukraine). IP permanently blocked.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26517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11:12 AM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0358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February Report 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February 2025 security report is ready to download.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1, 2025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8587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9502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 Renewed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 automatically renewed. Valid for 289 more days.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44805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28, 2025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77316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486460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Alert Sent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were notified about the DDoS attack on WhatsApp at +91 98765 43210.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5394960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7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2:34 PM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658368"/>
            <a:ext cx="576072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 Certificate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1115568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1612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9680" y="11612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yourstore.in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1463040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508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69680" y="15087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Valid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1810512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8562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869680" y="18562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2157984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203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869680" y="22037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15, 2026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2505456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551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869680" y="25511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2852928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Enforced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869680" y="28986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Yes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3639312"/>
            <a:ext cx="5760720" cy="2999232"/>
          </a:xfrm>
          <a:prstGeom prst="roundRect">
            <a:avLst>
              <a:gd name="adj" fmla="val 3049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7307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Security (SPF / DKIM / DMARC)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0" y="4096512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41422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 Record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869680" y="41422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Configured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00800" y="4443984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4489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DKIM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869680" y="44897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Signing Active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0" y="4791456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48371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DMARC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869680" y="483717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Not Set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00800" y="5138928"/>
            <a:ext cx="530352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5184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MX Records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869680" y="51846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Valid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0" y="5532120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2524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56235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DMARC not set — your domain could be spoofed.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us on WhatsApp to fix this in minutes.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&amp; REPORTS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600" y="2926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billing with GST invoices. Monthly security reports auto-generated and ready to download.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11731752" cy="1325880"/>
          </a:xfrm>
          <a:prstGeom prst="roundRect">
            <a:avLst>
              <a:gd name="adj" fmla="val 6897"/>
            </a:avLst>
          </a:prstGeom>
          <a:solidFill>
            <a:srgbClr val="152631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billing: April 1, 2025  ·  Auto-renews via Razorpay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0" y="777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/month + GST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103120"/>
            <a:ext cx="11731752" cy="2103120"/>
          </a:xfrm>
          <a:prstGeom prst="roundRect">
            <a:avLst>
              <a:gd name="adj" fmla="val 4348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542032"/>
            <a:ext cx="11731752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3172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5196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9244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12680" y="2578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1173175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1, 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 — March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₹1,080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9244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2898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PDF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1,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 — February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5196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₹1,080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9244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12680" y="32461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PDF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529584"/>
            <a:ext cx="1173175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1, 2025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Plan — January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5196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₹5,999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₹1,080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1268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PDF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4343400"/>
            <a:ext cx="11731752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Security Reports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11384280" cy="777240"/>
          </a:xfrm>
          <a:prstGeom prst="roundRect">
            <a:avLst>
              <a:gd name="adj" fmla="val 9412"/>
            </a:avLst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9377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143000" y="4892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2025 Security Report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3000" y="51846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Apr 1, 2025  ·  2.7 MB  ·  Includes: threats, SSL status, uptime, recommendations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332720" y="4956048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32720" y="4992624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Download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669280"/>
            <a:ext cx="11384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Previous monthly reports will appear here as they are generated each month.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plans include a 7-day free trial. No credit card required. Cancel anytime.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52578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₹2,499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+ 18% GST / month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852928"/>
            <a:ext cx="3108960" cy="0"/>
          </a:xfrm>
          <a:prstGeom prst="line">
            <a:avLst/>
          </a:prstGeom>
          <a:noFill/>
          <a:ln w="635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 Website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WAF Protection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SSL / HTTPS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986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WhatsApp Alerts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Monthly PDF Report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681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Email Support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6263640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291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Free Trial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417320"/>
            <a:ext cx="3657600" cy="5257800"/>
          </a:xfrm>
          <a:prstGeom prst="roundRect">
            <a:avLst>
              <a:gd name="adj" fmla="val 2500"/>
            </a:avLst>
          </a:prstGeom>
          <a:solidFill>
            <a:srgbClr val="0A1929"/>
          </a:solidFill>
          <a:ln w="31750">
            <a:solidFill>
              <a:srgbClr val="00C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32588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3441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Most Popular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4340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4340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₹4,999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34340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+ 18% GST / 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852928"/>
            <a:ext cx="3108960" cy="0"/>
          </a:xfrm>
          <a:prstGeom prst="line">
            <a:avLst/>
          </a:prstGeom>
          <a:noFill/>
          <a:ln w="635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3 Websites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3291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WAF Protection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SSL / HTTPS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3986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WhatsApp Alerts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Weekly Reports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4681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DDoS Mitigation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0" y="5029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Priority Support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6263640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6291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Free Trial 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1417320"/>
            <a:ext cx="3657600" cy="525780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B57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2960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₹8,499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22960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+ 18% GST / month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03920" y="2852928"/>
            <a:ext cx="3108960" cy="0"/>
          </a:xfrm>
          <a:prstGeom prst="line">
            <a:avLst/>
          </a:prstGeom>
          <a:noFill/>
          <a:ln w="6350">
            <a:solidFill>
              <a:srgbClr val="B57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10 Websites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58200" y="3291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Advanced WAF Rules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58200" y="3639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SSL / HTTPS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458200" y="3986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Real-Time Alerts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58200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Custom Reports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458200" y="46817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Bot Management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458200" y="5029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Dedicated Manager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458200" y="5376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SPF / DKIM Setup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03920" y="6263640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B57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6291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Free Trial 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CyberWall?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CyberWall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039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Others / DIY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453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5453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24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15453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or weeks of config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Know-How Needed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— we handle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20574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— dev / sysadmin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41448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94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Alerts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5694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Instant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5694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Email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815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by Experts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0815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Dedicated 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3081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You manage 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935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INR Pricing + GST Invoice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5935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Yes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5935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USD 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1056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PDF 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1056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1056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Extra cost or manual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9704"/>
            <a:ext cx="1127455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177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SPF / DKIM / DMARC Setup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6177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We set it 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6177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You figure it 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1297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+ English Support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5129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/ Email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51297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Offshore tickets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381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20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🛡</a:t>
            </a:r>
            <a:endParaRPr lang="en-US" sz="6200" dirty="0"/>
          </a:p>
        </p:txBody>
      </p:sp>
      <p:sp>
        <p:nvSpPr>
          <p:cNvPr id="25" name="Text 23"/>
          <p:cNvSpPr/>
          <p:nvPr/>
        </p:nvSpPr>
        <p:spPr>
          <a:xfrm>
            <a:off x="457200" y="1554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Protecting Your Website Today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57200" y="2377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free trial · No credit card · No technical setup · Cancel anytime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2880360"/>
            <a:ext cx="3959352" cy="685800"/>
          </a:xfrm>
          <a:prstGeom prst="roundRect">
            <a:avLst>
              <a:gd name="adj" fmla="val 13333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971800"/>
            <a:ext cx="3959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 Free 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371600" y="3840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44622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www.cyberwall.in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840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6344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4622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hello@cyberwall.in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55280" y="3840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955280" y="42976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44622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+91 99999 00000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"Your website never sleeps. Neither does CyberWall."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A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2025 CyberWall. Prices in Indian Rupees. GST applicable as per Indian tax law.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2026-03-26T03:57:44Z</dcterms:created>
  <dcterms:modified xsi:type="dcterms:W3CDTF">2026-03-26T03:57:44Z</dcterms:modified>
</cp:coreProperties>
</file>