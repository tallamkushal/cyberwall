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57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5029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🛡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457200" y="18288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PROCYBERWALL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3474720" y="2926080"/>
            <a:ext cx="5239512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632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Web Security — Fully Managed for Your Business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protect your website from hackers, DDoS attacks, and bots.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technical knowledge needed. We handle everything.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74420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442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 WAF Protection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04388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4388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WhatsApp Alerts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34356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4356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Free SSL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64324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64324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Monthly Reports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94292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94292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Faster Website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www.Procyberwall.in  ·  Confidential Client Presentation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Your Website Really Safe?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39 seconds, a website is attacked somewhere in the world — most owners never even know.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727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cyberattacks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small businesses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727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₹14 Crore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291840" y="22402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cost of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 breach in India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727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126480" y="22402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hacked SMBs shut down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within 6 months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61120" y="14630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8B9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5727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961120" y="22402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how many warnings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get before an attack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1272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can happen to YOUR website right now: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657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395020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Hacker steals your customer database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356616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657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Attacks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0" y="395020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Bots place fake orders or scrape your prices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480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DDoS Flood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47731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site goes down — customers can't reach you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09360" y="438912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4480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0" y="47731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Someone tries thousands of passwords on your admin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521208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🕵️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5303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Scraping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" y="55961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Competitors steal your content, pricing, product data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09360" y="521208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5303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Phishing via Email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9440" y="55961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domain spoofed to scam your own customers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CyberWall?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fully managed Web Application Firewall (WAF) service — we sit between the internet and your website, blocking threats before they reach you.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276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Hackers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0" y="15544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276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CyberWall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 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6276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Traffic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Passes Through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961120" y="15544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6276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Website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Stays Safe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80360" y="2008293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AA8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19842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AA8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31013" y="19933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AA8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3172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WAF Protection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3000" y="35021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 SQL injection, XSS, brute force, path traversal and 100+ attack types — automatically, 24/7.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3172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Alerts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95160" y="35021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message on your phone the moment a threat is detected. No checking dashboards needed.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43616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SSL / HTTPS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43000" y="46908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website gets a free SSL certificate and all traffic is forced to HTTPS automatically.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425196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95160" y="43616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PDF Reports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95160" y="46908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security report in your inbox every month. Perfect to show stakeholders.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544068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5715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43000" y="55504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 Boost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43000" y="58795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website loads faster for visitors with global CDN caching — no extra cost.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09360" y="544068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5715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🤖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95160" y="55504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95160" y="58795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AI assistant answers your security questions in plain English, any time of day.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DASHBOARD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286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in one place — real-time, live data about your website's security.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" y="621792"/>
            <a:ext cx="11914632" cy="6080760"/>
          </a:xfrm>
          <a:prstGeom prst="roundRect">
            <a:avLst>
              <a:gd name="adj" fmla="val 1805"/>
            </a:avLst>
          </a:prstGeom>
          <a:solidFill>
            <a:srgbClr val="0D1117"/>
          </a:solidFill>
          <a:ln w="1905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0"/>
            <a:ext cx="0" cy="685800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6459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11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CyberWall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594360"/>
            <a:ext cx="1965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6858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1440" y="932688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978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Dashboard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4592" y="1325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 Threats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00200" y="1335024"/>
            <a:ext cx="256032" cy="182880"/>
          </a:xfrm>
          <a:prstGeom prst="roundRect">
            <a:avLst>
              <a:gd name="adj" fmla="val 25000"/>
            </a:avLst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1344168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64592" y="16733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 Reports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4592" y="19933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64592" y="22860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SSL Monitor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4592" y="26334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Alerts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2642616"/>
            <a:ext cx="256032" cy="182880"/>
          </a:xfrm>
          <a:prstGeom prst="roundRect">
            <a:avLst>
              <a:gd name="adj" fmla="val 25000"/>
            </a:avLst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2651760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4592" y="30175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4592" y="32461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 Assistant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" y="36118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64592" y="38404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 Billing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4592" y="41879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Settings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6126480"/>
            <a:ext cx="1965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" y="6236208"/>
            <a:ext cx="347472" cy="34747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6236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626364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Rahul Sharma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" y="644652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965960" y="0"/>
            <a:ext cx="10222992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566928"/>
            <a:ext cx="1022299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155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164592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65176"/>
            <a:ext cx="82296" cy="82296"/>
          </a:xfrm>
          <a:prstGeom prst="ellipse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8288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601200" y="155448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13313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0" y="173736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652760" y="155448"/>
            <a:ext cx="1325880" cy="246888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52760" y="173736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Download Report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103120" y="713232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40280" y="850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5353C"/>
          </a:solidFill>
          <a:ln w="12700">
            <a:solidFill>
              <a:srgbClr val="3535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40280" y="8686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🛡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886200" y="850392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86200" y="8595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12%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240280" y="13075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1,247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2240280" y="16733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Attacks Blocked (30 days)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90288" y="713232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27448" y="850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0393C"/>
          </a:solidFill>
          <a:ln w="12700">
            <a:solidFill>
              <a:srgbClr val="3039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27448" y="8686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73368" y="850392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73368" y="8595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0.2%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727448" y="13075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99.97%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4727448" y="16733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This Month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077456" y="713232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14616" y="850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0373F"/>
          </a:solidFill>
          <a:ln w="12700">
            <a:solidFill>
              <a:srgbClr val="30373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14616" y="8686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60536" y="850392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13313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60536" y="8595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214616" y="13075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ms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7214616" y="16733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Response Time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564624" y="713232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01784" y="850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3393E"/>
          </a:solidFill>
          <a:ln w="12700">
            <a:solidFill>
              <a:srgbClr val="33393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701784" y="8686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🏆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1347704" y="850392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347704" y="8595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A+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9701784" y="13075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94/100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9701784" y="16733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Score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103120" y="1993392"/>
            <a:ext cx="5760720" cy="1993392"/>
          </a:xfrm>
          <a:prstGeom prst="roundRect">
            <a:avLst>
              <a:gd name="adj" fmla="val 458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40280" y="20848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Attacks Blocked — Last 7 Days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949440" y="20848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all →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240280" y="3030973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312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240280" y="3232141"/>
            <a:ext cx="728907" cy="151139"/>
          </a:xfrm>
          <a:prstGeom prst="roundRect">
            <a:avLst>
              <a:gd name="adj" fmla="val 24200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40280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024051" y="2896789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589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024051" y="3097957"/>
            <a:ext cx="728907" cy="285323"/>
          </a:xfrm>
          <a:prstGeom prst="roundRect">
            <a:avLst>
              <a:gd name="adj" fmla="val 12819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24051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807823" y="2823157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741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807823" y="3024325"/>
            <a:ext cx="728907" cy="358955"/>
          </a:xfrm>
          <a:prstGeom prst="roundRect">
            <a:avLst>
              <a:gd name="adj" fmla="val 10190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07823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Wed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4591594" y="2221992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2.0K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91594" y="2423160"/>
            <a:ext cx="728907" cy="960120"/>
          </a:xfrm>
          <a:prstGeom prst="roundRect">
            <a:avLst>
              <a:gd name="adj" fmla="val 5018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91594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Thu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375366" y="2637624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1.1K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375366" y="2838792"/>
            <a:ext cx="728907" cy="544488"/>
          </a:xfrm>
          <a:prstGeom prst="roundRect">
            <a:avLst>
              <a:gd name="adj" fmla="val 6718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375366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6159137" y="2973811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430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159137" y="3174979"/>
            <a:ext cx="728907" cy="208301"/>
          </a:xfrm>
          <a:prstGeom prst="roundRect">
            <a:avLst>
              <a:gd name="adj" fmla="val 17559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59137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942909" y="3041630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290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942909" y="3242798"/>
            <a:ext cx="728907" cy="140482"/>
          </a:xfrm>
          <a:prstGeom prst="roundRect">
            <a:avLst>
              <a:gd name="adj" fmla="val 26036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42909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Sun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240280" y="3730752"/>
            <a:ext cx="54864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86000" y="3794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Peak: Thursday · 1,982 attacks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6583680" y="3794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blocked ✓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973568" y="1993392"/>
            <a:ext cx="3931920" cy="1993392"/>
          </a:xfrm>
          <a:prstGeom prst="roundRect">
            <a:avLst>
              <a:gd name="adj" fmla="val 458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110728" y="2084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Score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110728" y="23957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A+</a:t>
            </a:r>
            <a:endParaRPr lang="en-US" sz="3000" dirty="0"/>
          </a:p>
        </p:txBody>
      </p:sp>
      <p:sp>
        <p:nvSpPr>
          <p:cNvPr id="101" name="Text 99"/>
          <p:cNvSpPr/>
          <p:nvPr/>
        </p:nvSpPr>
        <p:spPr>
          <a:xfrm>
            <a:off x="8110728" y="30906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Excellent Protection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8110728" y="3346704"/>
            <a:ext cx="3566160" cy="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156448" y="34015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 WAF Rules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10332720" y="3401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110728" y="3666744"/>
            <a:ext cx="3566160" cy="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56448" y="3721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SSL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10332720" y="37216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8110728" y="3986784"/>
            <a:ext cx="3566160" cy="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156448" y="40416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✉ SPF/DKIM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0332720" y="40416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8110728" y="4306824"/>
            <a:ext cx="3566160" cy="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156448" y="436168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HTTPS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10332720" y="4361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2103120" y="4059936"/>
            <a:ext cx="9802368" cy="2359152"/>
          </a:xfrm>
          <a:prstGeom prst="roundRect">
            <a:avLst>
              <a:gd name="adj" fmla="val 387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240280" y="41513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Threats Blocked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10881360" y="41513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all →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103120" y="4443984"/>
            <a:ext cx="9802368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19456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Type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420624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Address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612648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749808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914400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1014984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1115568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2103120" y="4736592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194560" y="4800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4297680" y="4800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103.28.xx.xx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6309360" y="48006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🇨🇳 China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7772400" y="4800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9509760" y="48006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 ago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10607040" y="480060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607040" y="480974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11247120" y="480060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247120" y="480974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2194560" y="51206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 Attack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4297680" y="51206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185.220.xx.xx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6309360" y="5120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 Russia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7772400" y="51206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9509760" y="51206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min ago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10607040" y="512064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607040" y="51297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11247120" y="512064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1247120" y="51297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2103120" y="5376672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2194560" y="54406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Crawl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4297680" y="54406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45.33.xx.xx</a:t>
            </a:r>
            <a:endParaRPr lang="en-US" sz="800" dirty="0"/>
          </a:p>
        </p:txBody>
      </p:sp>
      <p:sp>
        <p:nvSpPr>
          <p:cNvPr id="147" name="Text 145"/>
          <p:cNvSpPr/>
          <p:nvPr/>
        </p:nvSpPr>
        <p:spPr>
          <a:xfrm>
            <a:off x="6309360" y="5440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🇺🇸 USA</a:t>
            </a:r>
            <a:endParaRPr lang="en-US" sz="850" dirty="0"/>
          </a:p>
        </p:txBody>
      </p:sp>
      <p:sp>
        <p:nvSpPr>
          <p:cNvPr id="148" name="Text 146"/>
          <p:cNvSpPr/>
          <p:nvPr/>
        </p:nvSpPr>
        <p:spPr>
          <a:xfrm>
            <a:off x="7772400" y="54406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</a:t>
            </a: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9509760" y="54406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min ago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10607040" y="544068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42C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0607040" y="544982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11247120" y="544068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1247120" y="544982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2194560" y="5760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DDoS Attempt</a:t>
            </a:r>
            <a:endParaRPr lang="en-US" sz="850" dirty="0"/>
          </a:p>
        </p:txBody>
      </p:sp>
      <p:sp>
        <p:nvSpPr>
          <p:cNvPr id="155" name="Text 153"/>
          <p:cNvSpPr/>
          <p:nvPr/>
        </p:nvSpPr>
        <p:spPr>
          <a:xfrm>
            <a:off x="4297680" y="57607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198.54.xx.xx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6309360" y="5760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🇧🇷 Brazil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7772400" y="5760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/checkout</a:t>
            </a:r>
            <a:endParaRPr lang="en-US" sz="800" dirty="0"/>
          </a:p>
        </p:txBody>
      </p:sp>
      <p:sp>
        <p:nvSpPr>
          <p:cNvPr id="158" name="Text 156"/>
          <p:cNvSpPr/>
          <p:nvPr/>
        </p:nvSpPr>
        <p:spPr>
          <a:xfrm>
            <a:off x="9509760" y="5760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hr ago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10607040" y="576072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607040" y="576986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11247120" y="576072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1247120" y="576986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2103120" y="6016752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194560" y="6080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</a:t>
            </a:r>
            <a:endParaRPr lang="en-US" sz="850" dirty="0"/>
          </a:p>
        </p:txBody>
      </p:sp>
      <p:sp>
        <p:nvSpPr>
          <p:cNvPr id="165" name="Text 163"/>
          <p:cNvSpPr/>
          <p:nvPr/>
        </p:nvSpPr>
        <p:spPr>
          <a:xfrm>
            <a:off x="4297680" y="60807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77.88.xx.xx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6309360" y="6080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🇺🇦 Ukraine</a:t>
            </a:r>
            <a:endParaRPr lang="en-US" sz="850" dirty="0"/>
          </a:p>
        </p:txBody>
      </p:sp>
      <p:sp>
        <p:nvSpPr>
          <p:cNvPr id="167" name="Text 165"/>
          <p:cNvSpPr/>
          <p:nvPr/>
        </p:nvSpPr>
        <p:spPr>
          <a:xfrm>
            <a:off x="7772400" y="60807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9509760" y="6080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hrs ago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10607040" y="60807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607040" y="608990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11247120" y="60807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1247120" y="608990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THREATS LOG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286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every attack — the type, where it came from, what it was targeting, and how we stopped it.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" y="621792"/>
            <a:ext cx="11914632" cy="6080760"/>
          </a:xfrm>
          <a:prstGeom prst="roundRect">
            <a:avLst>
              <a:gd name="adj" fmla="val 1805"/>
            </a:avLst>
          </a:prstGeom>
          <a:solidFill>
            <a:srgbClr val="0D1117"/>
          </a:solidFill>
          <a:ln w="1905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21792"/>
            <a:ext cx="1965960" cy="608076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621792"/>
            <a:ext cx="0" cy="608076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777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🛡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CyberWall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" y="13075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Dashboard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" y="1609344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65506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 Threats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4592" y="20025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 Reports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65960" y="621792"/>
            <a:ext cx="10222992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1188720"/>
            <a:ext cx="1022299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777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Threats Log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786384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8046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Protected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103120" y="1298448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0280" y="14356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5353C"/>
          </a:solidFill>
          <a:ln w="12700">
            <a:solidFill>
              <a:srgbClr val="3535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14538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86200" y="1435608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1444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40280" y="18928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40280" y="22585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Threats Today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40680" y="1298448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14356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0393C"/>
          </a:solidFill>
          <a:ln w="12700">
            <a:solidFill>
              <a:srgbClr val="3039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14538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1435608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1444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577840" y="18928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1,247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577840" y="22585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 This Month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778240" y="1298448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5400" y="14356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53937"/>
          </a:solidFill>
          <a:ln w="12700">
            <a:solidFill>
              <a:srgbClr val="353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15400" y="14538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🌍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561320" y="1435608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342C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61320" y="1444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915400" y="18928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915400" y="22585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 of Origin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122084" y="2651760"/>
            <a:ext cx="9875520" cy="388620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40280" y="27432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Threats Log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103120" y="3063240"/>
            <a:ext cx="98755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9456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20624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2648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49808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14400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014984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15568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103120" y="3401568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94560" y="346557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297680" y="34655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103.28.xx.xx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09360" y="34655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🇨🇳 China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772400" y="346557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509760" y="346557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 ago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0607040" y="346557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07040" y="347472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1247120" y="346557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178540" y="3465576"/>
            <a:ext cx="548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194560" y="38130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 Attack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297680" y="381304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185.220.xx.xx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09360" y="38130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 Russia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772400" y="38130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509760" y="381304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min ago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0607040" y="381304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607040" y="38221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1247120" y="3803904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247120" y="3822192"/>
            <a:ext cx="548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103120" y="4096512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94560" y="41605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Crawl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297680" y="41605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45.33.xx.xx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09360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🇺🇸 USA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72400" y="41605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509760" y="41605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min ago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607040" y="416052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42C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592648" y="4136475"/>
            <a:ext cx="58589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1247120" y="416052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247120" y="416966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2194560" y="45079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DDoS Attempt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297680" y="45079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198.54.xx.xx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309360" y="45079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🇧🇷 Brazil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772400" y="45079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/checkout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9509760" y="45079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hr ago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0607040" y="450799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07040" y="451713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1247120" y="450799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247120" y="451713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2103120" y="4791456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94560" y="485546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Traversal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297680" y="485546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92.118.xx.xx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309360" y="48554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🇩🇪 Germany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7772400" y="48554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/../config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9509760" y="485546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hrs ago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0607040" y="4855464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42C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584180" y="485546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11247120" y="4855464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1247120" y="48737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2194560" y="520293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4297680" y="52029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77.88.xx.xx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309360" y="52029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🇺🇦 Ukraine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7772400" y="520293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9509760" y="520293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hrs ago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0607040" y="520293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607040" y="521208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11247120" y="520293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1247120" y="5212080"/>
            <a:ext cx="548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2103120" y="5486400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194560" y="55504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 Hit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4297680" y="55504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91.108.xx.xx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6309360" y="55504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🇫🇷 France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7772400" y="55504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9509760" y="555040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Yesterday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10561321" y="5513832"/>
            <a:ext cx="594360" cy="219456"/>
          </a:xfrm>
          <a:prstGeom prst="roundRect">
            <a:avLst>
              <a:gd name="adj" fmla="val 20000"/>
            </a:avLst>
          </a:prstGeom>
          <a:solidFill>
            <a:srgbClr val="342C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607040" y="5559552"/>
            <a:ext cx="5715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11247120" y="555040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247119" y="5559552"/>
            <a:ext cx="59435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&amp; SSL MONITOR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286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alerts delivered to your WhatsApp. SSL certificate monitored and auto-renewed.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5760720" cy="5989320"/>
          </a:xfrm>
          <a:prstGeom prst="roundRect">
            <a:avLst>
              <a:gd name="adj" fmla="val 158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Alerts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261F26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2070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DDoS Attack Detected &amp; Blocked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198 requests/sec from 45 IPs. Automatically mitigated by CyberWall.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7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Today, 2:34 PM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2524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1214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 Login Attempt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3774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 failed login attempts from IP 77.88.xx.xx (Ukraine). IP permanently blocked.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2651760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7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Today, 11:12 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0358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February Report Ready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32918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February 2025 security report is ready to download.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" y="3566160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7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1, 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" y="385876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9502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 Certificate Renewed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42062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 certificate automatically renewed. Valid for 289 more days.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" y="4480560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7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 28, 2025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" y="477316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8646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Alert Sent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51206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were notified about the DDoS attack on WhatsApp at +91 98765 43210.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" y="5394960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7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Today, 2:34 PM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17920" y="658368"/>
            <a:ext cx="5760720" cy="2834640"/>
          </a:xfrm>
          <a:prstGeom prst="roundRect">
            <a:avLst>
              <a:gd name="adj" fmla="val 322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749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 Certificate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1115568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1612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869680" y="116128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yourstore.in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0" y="1463040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15087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869680" y="150876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Valid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00800" y="1810512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18562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869680" y="18562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Encrypt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00800" y="2157984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22037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869680" y="22037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15, 2026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00800" y="2505456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25511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869680" y="255117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1.3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00800" y="2852928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2898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Enforced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869680" y="289864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Yes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17920" y="3639312"/>
            <a:ext cx="5760720" cy="2999232"/>
          </a:xfrm>
          <a:prstGeom prst="roundRect">
            <a:avLst>
              <a:gd name="adj" fmla="val 3049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73075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Security (SPF / DKIM / DMARC)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00800" y="4096512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41422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SPF Record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869680" y="41422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Configured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00800" y="4443984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44897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DKIM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869680" y="44897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Signing Active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400800" y="4791456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46520" y="48371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DMARC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869680" y="483717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Not Set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400800" y="5138928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46520" y="5184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MX Records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869680" y="518464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Valid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400800" y="5532120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2524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92240" y="56235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DMARC not set — your domain could be spoofed.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us on WhatsApp to fix this in minutes.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&amp; REPORTS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286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billing with GST invoices. Monthly security reports auto-generated and ready to download.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11731752" cy="1325880"/>
          </a:xfrm>
          <a:prstGeom prst="roundRect">
            <a:avLst>
              <a:gd name="adj" fmla="val 6897"/>
            </a:avLst>
          </a:prstGeom>
          <a:solidFill>
            <a:srgbClr val="152631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billing: April 1, 2025  ·  Auto-renews via Razorpay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0" y="7772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₹5,999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0" y="14447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/month + GST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2103120"/>
            <a:ext cx="11731752" cy="2103120"/>
          </a:xfrm>
          <a:prstGeom prst="roundRect">
            <a:avLst>
              <a:gd name="adj" fmla="val 4348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History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542032"/>
            <a:ext cx="11731752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33172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5196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7220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09244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01268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600" y="2834640"/>
            <a:ext cx="1173175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1, 2025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3172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 — March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5196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₹5,999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7220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₹1,080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09244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1268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PDF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 1, 2025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3172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 — February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5196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₹5,999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7220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₹1,080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09244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01268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PDF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3529584"/>
            <a:ext cx="1173175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1, 2025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3172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 — January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5196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₹5,999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7220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₹1,080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9244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01268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PDF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4343400"/>
            <a:ext cx="11731752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Security Reports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800600"/>
            <a:ext cx="11384280" cy="777240"/>
          </a:xfrm>
          <a:prstGeom prst="roundRect">
            <a:avLst>
              <a:gd name="adj" fmla="val 9412"/>
            </a:avLst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937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📄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143000" y="4892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2025 Security Report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43000" y="51846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Apr 1, 2025  ·  2.7 MB  ·  Includes: threats, SSL status, uptime, recommendations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332720" y="4956048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32720" y="4992624"/>
            <a:ext cx="1143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Download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5669280"/>
            <a:ext cx="11384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Previous monthly reports will appear here as they are generated each month.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SECURITY ASSISTANT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2860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anything about your website security — in plain English. No jargon. Available 24/7.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" y="594360"/>
            <a:ext cx="11914632" cy="6108192"/>
          </a:xfrm>
          <a:prstGeom prst="roundRect">
            <a:avLst>
              <a:gd name="adj" fmla="val 1796"/>
            </a:avLst>
          </a:prstGeom>
          <a:solidFill>
            <a:srgbClr val="0D1117"/>
          </a:solidFill>
          <a:ln w="1905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94360"/>
            <a:ext cx="1965960" cy="6108192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594360"/>
            <a:ext cx="0" cy="6108192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749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7955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CyberWall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11704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4592" y="142646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Dashboard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" y="174650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 Threats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" y="206654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 Reports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" y="23774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4592" y="261518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SSL Monitor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" y="293522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Alerts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" y="32918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1440" y="3493008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352958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 Assistant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65960" y="594360"/>
            <a:ext cx="10222992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1124712"/>
            <a:ext cx="1022299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74980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749808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76809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Protected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03120" y="1234440"/>
            <a:ext cx="9784080" cy="5376672"/>
          </a:xfrm>
          <a:prstGeom prst="roundRect">
            <a:avLst>
              <a:gd name="adj" fmla="val 170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13716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138988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61488" y="1399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CyberWall AI Assistant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61488" y="161848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me anything about your website security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194560" y="1874520"/>
            <a:ext cx="9555480" cy="3246120"/>
          </a:xfrm>
          <a:prstGeom prst="roundRect">
            <a:avLst>
              <a:gd name="adj" fmla="val 2817"/>
            </a:avLst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31720" y="2011680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2066544"/>
            <a:ext cx="5486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👋  Hi! I'm your CyberWall AI security assistant. Ask me about your protection, threats, or anything about website security!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178040" y="2651760"/>
            <a:ext cx="4389120" cy="347472"/>
          </a:xfrm>
          <a:prstGeom prst="roundRect">
            <a:avLst>
              <a:gd name="adj" fmla="val 21053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270662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 I fully protected right now?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31720" y="3136392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3160" y="3191256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Yes! ✅ Your site is fully protected. WAF is active, SSL is valid (289 days left), and we've blocked 28 threats today — including 1 DDoS attempt and 4 SQL injection attacks. Your security score is A+.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778240" y="4005072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4059936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SQL injection?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31720" y="4480560"/>
            <a:ext cx="7498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4526280"/>
            <a:ext cx="7315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 is when a hacker types code into a form on your website to trick it into leaking your database. CyberWall blocks all such attempts automatically. 🛡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194560" y="5230368"/>
            <a:ext cx="8046720" cy="347472"/>
          </a:xfrm>
          <a:prstGeom prst="roundRect">
            <a:avLst>
              <a:gd name="adj" fmla="val 184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31720" y="528523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about your security...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378440" y="5230368"/>
            <a:ext cx="1170432" cy="347472"/>
          </a:xfrm>
          <a:prstGeom prst="roundRect">
            <a:avLst>
              <a:gd name="adj" fmla="val 18421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78440" y="5285232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→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194560" y="5650992"/>
            <a:ext cx="2148840" cy="274320"/>
          </a:xfrm>
          <a:prstGeom prst="roundRect">
            <a:avLst>
              <a:gd name="adj" fmla="val 2666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94560" y="568756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 I protected?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416552" y="5650992"/>
            <a:ext cx="2148840" cy="274320"/>
          </a:xfrm>
          <a:prstGeom prst="roundRect">
            <a:avLst>
              <a:gd name="adj" fmla="val 2666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16552" y="568756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SQL injection?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638544" y="5650992"/>
            <a:ext cx="2148840" cy="274320"/>
          </a:xfrm>
          <a:prstGeom prst="roundRect">
            <a:avLst>
              <a:gd name="adj" fmla="val 2666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8544" y="568756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a WAF do?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860536" y="5650992"/>
            <a:ext cx="2148840" cy="274320"/>
          </a:xfrm>
          <a:prstGeom prst="roundRect">
            <a:avLst>
              <a:gd name="adj" fmla="val 2666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0536" y="568756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my score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Simple, Transparent Pricing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plans include a 7-day free trial. No credit card required. Cancel anytime.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657600" cy="461772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904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strike="sng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₹2,499 </a:t>
            </a:r>
            <a:r>
              <a:rPr lang="en-US" sz="19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0</a:t>
            </a:r>
            <a:endParaRPr lang="en-US" sz="1900" strike="sngStrike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9842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+ 18% GST / month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1520" y="2267712"/>
            <a:ext cx="3108960" cy="0"/>
          </a:xfrm>
          <a:prstGeom prst="line">
            <a:avLst/>
          </a:prstGeom>
          <a:noFill/>
          <a:ln w="6350">
            <a:solidFill>
              <a:srgbClr val="4A9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59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 Website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2688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WAF Protection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Free SSL / HTTPS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33467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WhatsApp Alerts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3675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Monthly PDF Report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4005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AI Assistant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43342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Email Support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5440680"/>
            <a:ext cx="3108960" cy="274320"/>
          </a:xfrm>
          <a:prstGeom prst="roundRect">
            <a:avLst>
              <a:gd name="adj" fmla="val 23333"/>
            </a:avLst>
          </a:prstGeom>
          <a:solidFill>
            <a:srgbClr val="161B2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589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Free Trial 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43400" y="1051560"/>
            <a:ext cx="3657600" cy="4617720"/>
          </a:xfrm>
          <a:prstGeom prst="roundRect">
            <a:avLst>
              <a:gd name="adj" fmla="val 2500"/>
            </a:avLst>
          </a:prstGeom>
          <a:solidFill>
            <a:srgbClr val="0A1929"/>
          </a:solidFill>
          <a:ln w="31750">
            <a:solidFill>
              <a:srgbClr val="00C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969264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9875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Most Popular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343400" y="11521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400" y="14904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₹4,999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343400" y="19842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+ 18% GST / month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17720" y="2267712"/>
            <a:ext cx="3108960" cy="0"/>
          </a:xfrm>
          <a:prstGeom prst="line">
            <a:avLst/>
          </a:prstGeom>
          <a:noFill/>
          <a:ln w="635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359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3 Websites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0" y="2688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WAF Protection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Free SSL / HTTPS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0" y="33467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WhatsApp Alerts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0" y="3675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Weekly Reports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0" y="4005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AI Assistant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0" y="43342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DDoS Mitigation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Priority Support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17720" y="5440680"/>
            <a:ext cx="3108960" cy="274320"/>
          </a:xfrm>
          <a:prstGeom prst="roundRect">
            <a:avLst>
              <a:gd name="adj" fmla="val 23333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54589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Free Trial →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29600" y="1051560"/>
            <a:ext cx="3657600" cy="461772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B57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11521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0" y="14904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₹8,499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229600" y="19842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+ 18% GST / month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503920" y="2267712"/>
            <a:ext cx="3108960" cy="0"/>
          </a:xfrm>
          <a:prstGeom prst="line">
            <a:avLst/>
          </a:prstGeom>
          <a:noFill/>
          <a:ln w="6350">
            <a:solidFill>
              <a:srgbClr val="B57B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2359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10 Websites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58200" y="2688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Advanced WAF Rules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5820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Free SSL / HTTPS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58200" y="33467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Real-Time Alerts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458200" y="3675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Custom Reports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458200" y="4005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AI Assistant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58200" y="43342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Bot Management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5820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Dedicated Manager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503920" y="5440680"/>
            <a:ext cx="3108960" cy="274320"/>
          </a:xfrm>
          <a:prstGeom prst="roundRect">
            <a:avLst>
              <a:gd name="adj" fmla="val 23333"/>
            </a:avLst>
          </a:prstGeom>
          <a:solidFill>
            <a:srgbClr val="161B22"/>
          </a:solidFill>
          <a:ln w="12700">
            <a:solidFill>
              <a:srgbClr val="B57B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0" y="54589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5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Free Trial →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5870448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3342E"/>
          </a:solidFill>
          <a:ln w="19050">
            <a:solidFill>
              <a:srgbClr val="00D97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596188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23444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10× Money-Back Guarantee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234440" y="6217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your website is ever breached while under CyberWall protection, we refund 10× your monthly fee. No questions asked.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CyberWall?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CyberWall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Others / DIY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453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Time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54533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24 hours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15453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or weeks of config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Know-How Needed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20574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— we handle 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20574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— dev / sysadmin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41448"/>
            <a:ext cx="1127455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694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Alerts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25694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Instant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256946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Email only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0815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by Experts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30815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Dedicated team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30815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You manage 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465576"/>
            <a:ext cx="1127455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935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INR Pricing + GST Invoice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35935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Yes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35935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USD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1056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PDF Reports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41056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Auto-generated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10565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Extra cost or manual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489704"/>
            <a:ext cx="1127455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177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SPF / DKIM / DMARC Setup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6177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We set it up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6177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You figure it out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51297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 + English Support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51297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WhatsApp / Email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51297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Offshore tickets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5513832"/>
            <a:ext cx="1127455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6418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10× Money-Back Guarantee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0" y="56418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If site gets breached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56418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No such guarantee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200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🛡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457200" y="15544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Protecting Your Website Today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2377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7-day free trial · No credit card · No technical setup · Cancel anytime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0" y="2834640"/>
            <a:ext cx="3959352" cy="566928"/>
          </a:xfrm>
          <a:prstGeom prst="roundRect">
            <a:avLst>
              <a:gd name="adj" fmla="val 16129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2907792"/>
            <a:ext cx="3959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 Free 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0" y="3433572"/>
            <a:ext cx="6336792" cy="384048"/>
          </a:xfrm>
          <a:prstGeom prst="roundRect">
            <a:avLst>
              <a:gd name="adj" fmla="val 19048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9233" y="3493007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  10× Money-Back Guarantee — if your site is breached while on CyberWall, we refund 10× your fee.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371600" y="38404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3913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🌐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71600" y="42976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371600" y="44622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www.cyberwall.in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8404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913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📧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663440" y="42976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63440" y="44622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hello@cyberwall.in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55280" y="38404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913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💬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955280" y="42976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55280" y="44622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+91 99999 00000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7200" y="502920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"Your website never sleeps. Neither does CyberWall."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2025 CyberWall. Prices in Indian Rupees. GST applicable as per Indian tax law.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1684</Words>
  <Application>Microsoft Office PowerPoint</Application>
  <PresentationFormat>Widescreen</PresentationFormat>
  <Paragraphs>483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Keerthana</cp:lastModifiedBy>
  <cp:revision>4</cp:revision>
  <dcterms:created xsi:type="dcterms:W3CDTF">2026-03-26T04:07:22Z</dcterms:created>
  <dcterms:modified xsi:type="dcterms:W3CDTF">2026-04-01T18:19:09Z</dcterms:modified>
</cp:coreProperties>
</file>